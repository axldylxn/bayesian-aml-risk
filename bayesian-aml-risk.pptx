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6E764D-C748-43CE-87AF-C6A24E935F7C}">
  <a:tblStyle styleId="{F36E764D-C748-43CE-87AF-C6A24E935F7C}" styleName="Table_0">
    <a:wholeTbl>
      <a:tcTxStyle b="off" i="off">
        <a:font>
          <a:latin typeface="GT Walsheim LC Light"/>
          <a:ea typeface="GT Walsheim LC Light"/>
          <a:cs typeface="GT Walsheim LC Light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T Walsheim LC Light"/>
          <a:ea typeface="GT Walsheim LC Light"/>
          <a:cs typeface="GT Walsheim LC Light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d1024946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d1024946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d1024946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d1024946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d1024946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d1024946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d1024946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d1024946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d1024946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d1024946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d1024946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d1024946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d1024946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d1024946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d1024946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d1024946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d10249469_1_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d10249469_1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d1024946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d1024946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d1024946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d1024946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d10249469_1_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d10249469_1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d1024946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d1024946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d1024946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d1024946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d1024946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d1024946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d1024946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d1024946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d10249469_1_2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d10249469_1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d1024946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d1024946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d10249469_1_2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d10249469_1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Mobius" showMasterSp="0">
  <p:cSld name="Cover Mobiu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12500" l="0" r="0" t="12500"/>
          <a:stretch/>
        </p:blipFill>
        <p:spPr>
          <a:xfrm>
            <a:off x="714" y="803"/>
            <a:ext cx="9142572" cy="514269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381002" y="2022872"/>
            <a:ext cx="4281486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81000" y="3398639"/>
            <a:ext cx="4281486" cy="353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b="0" sz="1500"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b="0" sz="11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1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9200755" y="507425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"/>
              <a:buNone/>
              <a:defRPr b="0" i="0" sz="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"/>
              <a:buNone/>
              <a:defRPr b="0" i="0" sz="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"/>
              <a:buNone/>
              <a:defRPr b="0" i="0" sz="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"/>
              <a:buNone/>
              <a:defRPr b="0" i="0" sz="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"/>
              <a:buNone/>
              <a:defRPr b="0" i="0" sz="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"/>
              <a:buNone/>
              <a:defRPr b="0" i="0" sz="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"/>
              <a:buNone/>
              <a:defRPr b="0" i="0" sz="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"/>
              <a:buNone/>
              <a:defRPr b="0" i="0" sz="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"/>
              <a:buNone/>
              <a:defRPr b="0" i="0" sz="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81000" y="3849291"/>
            <a:ext cx="4281486" cy="353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0" sz="1200"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b="0" sz="1500"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b="0" sz="11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1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1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591" y="100786"/>
            <a:ext cx="2755218" cy="880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showMasterSp="0">
  <p:cSld name="Agenda">
    <p:bg>
      <p:bgPr>
        <a:solidFill>
          <a:schemeClr val="accen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81002" y="381000"/>
            <a:ext cx="766762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None/>
              <a:defRPr sz="1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59402" y="4791076"/>
            <a:ext cx="203597" cy="1077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8541368" y="4806532"/>
            <a:ext cx="18035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r>
              <a:rPr b="0" i="0" lang="es-419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sz="1100"/>
          </a:p>
        </p:txBody>
      </p:sp>
      <p:sp>
        <p:nvSpPr>
          <p:cNvPr id="61" name="Google Shape;61;p14"/>
          <p:cNvSpPr txBox="1"/>
          <p:nvPr/>
        </p:nvSpPr>
        <p:spPr>
          <a:xfrm>
            <a:off x="8541368" y="4806532"/>
            <a:ext cx="18035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r>
              <a:rPr b="0" i="0" lang="es-419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sz="1100"/>
          </a:p>
        </p:txBody>
      </p:sp>
      <p:sp>
        <p:nvSpPr>
          <p:cNvPr id="62" name="Google Shape;62;p14"/>
          <p:cNvSpPr txBox="1"/>
          <p:nvPr/>
        </p:nvSpPr>
        <p:spPr>
          <a:xfrm>
            <a:off x="8230689" y="4785715"/>
            <a:ext cx="201317" cy="1077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69850" lvl="0" marL="635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Char char="©"/>
            </a:pPr>
            <a:r>
              <a:rPr b="0" i="0" lang="es-419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100"/>
          </a:p>
        </p:txBody>
      </p:sp>
      <p:sp>
        <p:nvSpPr>
          <p:cNvPr id="63" name="Google Shape;63;p14"/>
          <p:cNvSpPr txBox="1"/>
          <p:nvPr/>
        </p:nvSpPr>
        <p:spPr>
          <a:xfrm>
            <a:off x="6760982" y="4785715"/>
            <a:ext cx="1409698" cy="1077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</a:pPr>
            <a:r>
              <a:rPr b="0" i="0" lang="es-419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Grant Thornton International Ltd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2252" y="4528584"/>
            <a:ext cx="1747214" cy="558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Teal" showMasterSp="0">
  <p:cSld name="Divider Teal">
    <p:bg>
      <p:bgPr>
        <a:solidFill>
          <a:schemeClr val="accen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2">
            <a:alphaModFix/>
          </a:blip>
          <a:srcRect b="12500" l="0" r="0" t="12500"/>
          <a:stretch/>
        </p:blipFill>
        <p:spPr>
          <a:xfrm>
            <a:off x="714" y="402"/>
            <a:ext cx="9142572" cy="514269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type="title"/>
          </p:nvPr>
        </p:nvSpPr>
        <p:spPr>
          <a:xfrm>
            <a:off x="1094185" y="2193131"/>
            <a:ext cx="4100116" cy="353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81000" y="2193131"/>
            <a:ext cx="529829" cy="378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1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559402" y="4791076"/>
            <a:ext cx="203597" cy="1077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8541368" y="4806532"/>
            <a:ext cx="18035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r>
              <a:rPr b="0" i="0" lang="es-419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sz="1100"/>
          </a:p>
        </p:txBody>
      </p:sp>
      <p:sp>
        <p:nvSpPr>
          <p:cNvPr id="71" name="Google Shape;71;p15"/>
          <p:cNvSpPr txBox="1"/>
          <p:nvPr/>
        </p:nvSpPr>
        <p:spPr>
          <a:xfrm>
            <a:off x="8541368" y="4806532"/>
            <a:ext cx="18035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r>
              <a:rPr b="0" i="0" lang="es-419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sz="1100"/>
          </a:p>
        </p:txBody>
      </p:sp>
      <p:sp>
        <p:nvSpPr>
          <p:cNvPr id="72" name="Google Shape;72;p15"/>
          <p:cNvSpPr txBox="1"/>
          <p:nvPr/>
        </p:nvSpPr>
        <p:spPr>
          <a:xfrm>
            <a:off x="8230689" y="4785715"/>
            <a:ext cx="201317" cy="1077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69850" lvl="0" marL="635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Char char="©"/>
            </a:pPr>
            <a:r>
              <a:rPr b="0" i="0" lang="es-419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100"/>
          </a:p>
        </p:txBody>
      </p:sp>
      <p:sp>
        <p:nvSpPr>
          <p:cNvPr id="73" name="Google Shape;73;p15"/>
          <p:cNvSpPr txBox="1"/>
          <p:nvPr/>
        </p:nvSpPr>
        <p:spPr>
          <a:xfrm>
            <a:off x="6760982" y="4785715"/>
            <a:ext cx="1409698" cy="1077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</a:pPr>
            <a:r>
              <a:rPr b="0" i="0" lang="es-419" sz="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Grant Thornton International Ltd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252" y="4528584"/>
            <a:ext cx="1747214" cy="558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One colum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81002" y="381000"/>
            <a:ext cx="766762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96300" y="4824257"/>
            <a:ext cx="266700" cy="69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81000" y="1293019"/>
            <a:ext cx="8382000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81002" y="381000"/>
            <a:ext cx="766762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96300" y="4824257"/>
            <a:ext cx="266700" cy="69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81001" y="1293018"/>
            <a:ext cx="4098925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662489" y="1293018"/>
            <a:ext cx="4098925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i.org/10.29201/peipn.v15i30.38:contentReference%5boaicite:7%5d%7bindex=7%7d" TargetMode="External"/><Relationship Id="rId4" Type="http://schemas.openxmlformats.org/officeDocument/2006/relationships/hyperlink" Target="https://www.fatf-gafi.org/content/dam/fatf-gafi/guidance/Risk-Based-Approach-Banking-Sector.pdf:contentReference%5boaicite:11%5d%7bindex=11%7d" TargetMode="External"/><Relationship Id="rId5" Type="http://schemas.openxmlformats.org/officeDocument/2006/relationships/hyperlink" Target="https://www.fatf-gafi.org/content/dam/fatf-gafi/guidance/RBA-Life-Insurance.pdf:contentReference%5boaicite:15%5d%7bindex=15%7d" TargetMode="External"/><Relationship Id="rId6" Type="http://schemas.openxmlformats.org/officeDocument/2006/relationships/hyperlink" Target="https://arxiv.org/abs/1112.5550:contentReference%5boaicite:19%5d%7bindex=19%7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81002" y="381000"/>
            <a:ext cx="7667700" cy="10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s-419" sz="2900">
                <a:solidFill>
                  <a:srgbClr val="000000"/>
                </a:solidFill>
              </a:rPr>
              <a:t>Implementación del Modelo Bayesiano de Riesgo</a:t>
            </a:r>
            <a:endParaRPr sz="2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81000" y="1293019"/>
            <a:ext cx="8382000" cy="31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19" name="Google Shape;1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24" name="Google Shape;1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381002" y="381000"/>
            <a:ext cx="766762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es-419" sz="1100"/>
              <a:t>Matriz de Justificación (Fragmento)</a:t>
            </a:r>
            <a:endParaRPr sz="1100"/>
          </a:p>
        </p:txBody>
      </p:sp>
      <p:sp>
        <p:nvSpPr>
          <p:cNvPr id="130" name="Google Shape;130;p26"/>
          <p:cNvSpPr txBox="1"/>
          <p:nvPr>
            <p:ph idx="12" type="sldNum"/>
          </p:nvPr>
        </p:nvSpPr>
        <p:spPr>
          <a:xfrm>
            <a:off x="8496300" y="4824257"/>
            <a:ext cx="266700" cy="69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</a:pPr>
            <a:fld id="{00000000-1234-1234-1234-123412341234}" type="slidenum">
              <a:rPr lang="es-419" sz="1100"/>
              <a:t>‹#›</a:t>
            </a:fld>
            <a:endParaRPr sz="1100"/>
          </a:p>
        </p:txBody>
      </p:sp>
      <p:graphicFrame>
        <p:nvGraphicFramePr>
          <p:cNvPr id="131" name="Google Shape;131;p26"/>
          <p:cNvGraphicFramePr/>
          <p:nvPr/>
        </p:nvGraphicFramePr>
        <p:xfrm>
          <a:off x="757990" y="890338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B8ACDA"/>
                    </a:gs>
                    <a:gs pos="35000">
                      <a:srgbClr val="CFC6E4"/>
                    </a:gs>
                    <a:gs pos="100000">
                      <a:srgbClr val="EBE8F6"/>
                    </a:gs>
                  </a:gsLst>
                  <a:lin ang="16200000" scaled="0"/>
                </a:gradFill>
                <a:tableStyleId>{F36E764D-C748-43CE-87AF-C6A24E935F7C}</a:tableStyleId>
              </a:tblPr>
              <a:tblGrid>
                <a:gridCol w="2514600"/>
                <a:gridCol w="2514600"/>
                <a:gridCol w="2514600"/>
              </a:tblGrid>
              <a:tr h="20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</a:t>
                      </a:r>
                      <a:endParaRPr sz="1100"/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Valor</a:t>
                      </a:r>
                      <a:endParaRPr sz="1100"/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Justificación</a:t>
                      </a:r>
                      <a:endParaRPr sz="1100"/>
                    </a:p>
                  </a:txBody>
                  <a:tcPr marT="17550" marB="17550" marR="35125" marL="35125" anchor="ctr"/>
                </a:tc>
              </a:tr>
              <a:tr h="68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INV_FONDO</a:t>
                      </a:r>
                      <a:endParaRPr sz="1100"/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Dólares</a:t>
                      </a:r>
                      <a:endParaRPr sz="1100"/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Moneda extranjera: alto riesgo según UIF/GAFI, complica rastreo de fondos.</a:t>
                      </a:r>
                      <a:endParaRPr sz="1100"/>
                    </a:p>
                  </a:txBody>
                  <a:tcPr marT="17550" marB="17550" marR="35125" marL="35125" anchor="ctr"/>
                </a:tc>
              </a:tr>
              <a:tr h="52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BENEF_TERCERO</a:t>
                      </a:r>
                      <a:endParaRPr sz="1100"/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Sí</a:t>
                      </a:r>
                      <a:endParaRPr sz="1100"/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Beneficiario no familiar: posible canalización de recursos ilícitos.</a:t>
                      </a:r>
                      <a:endParaRPr sz="1100"/>
                    </a:p>
                  </a:txBody>
                  <a:tcPr marT="17550" marB="17550" marR="35125" marL="35125" anchor="ctr"/>
                </a:tc>
              </a:tr>
              <a:tr h="36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PERFIL_INVERSION</a:t>
                      </a:r>
                      <a:endParaRPr sz="1100"/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Agresivo</a:t>
                      </a:r>
                      <a:endParaRPr sz="1100"/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Alta volatilidad facilita movimientos atípicos.</a:t>
                      </a:r>
                      <a:endParaRPr sz="1100"/>
                    </a:p>
                  </a:txBody>
                  <a:tcPr marT="17550" marB="17550" marR="35125" marL="35125" anchor="ctr"/>
                </a:tc>
              </a:tr>
              <a:tr h="52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RESIDENCIA</a:t>
                      </a:r>
                      <a:endParaRPr sz="1100"/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Extranjero</a:t>
                      </a:r>
                      <a:endParaRPr sz="1100"/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Riesgo elevado por menor trazabilidad y jurisdicción internacional.</a:t>
                      </a:r>
                      <a:endParaRPr sz="1100"/>
                    </a:p>
                  </a:txBody>
                  <a:tcPr marT="17550" marB="17550" marR="35125" marL="35125" anchor="ctr"/>
                </a:tc>
              </a:tr>
              <a:tr h="68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Resto de variables</a:t>
                      </a:r>
                      <a:endParaRPr sz="1100"/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Estándar</a:t>
                      </a:r>
                      <a:endParaRPr sz="1100"/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Transferencia bancaria, persona física, no transferible.</a:t>
                      </a:r>
                      <a:endParaRPr sz="1100"/>
                    </a:p>
                  </a:txBody>
                  <a:tcPr marT="17550" marB="17550" marR="35125" marL="35125" anchor="ctr"/>
                </a:tc>
              </a:tr>
              <a:tr h="68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Asignación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Alto riesgo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550" marB="17550" marR="35125" marL="351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Acumulación de al menos tres banderas rojas regulatorias; asignación de probabilidad alta.</a:t>
                      </a:r>
                      <a:endParaRPr sz="1100"/>
                    </a:p>
                  </a:txBody>
                  <a:tcPr marT="17550" marB="17550" marR="35125" marL="351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36" name="Google Shape;13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41" name="Google Shape;14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381002" y="381000"/>
            <a:ext cx="766762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147" name="Google Shape;147;p29"/>
          <p:cNvSpPr txBox="1"/>
          <p:nvPr>
            <p:ph idx="12" type="sldNum"/>
          </p:nvPr>
        </p:nvSpPr>
        <p:spPr>
          <a:xfrm>
            <a:off x="8496300" y="4824257"/>
            <a:ext cx="266700" cy="69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</a:pPr>
            <a:fld id="{00000000-1234-1234-1234-123412341234}" type="slidenum">
              <a:rPr lang="es-419" sz="1100"/>
              <a:t>‹#›</a:t>
            </a:fld>
            <a:endParaRPr sz="1100"/>
          </a:p>
        </p:txBody>
      </p:sp>
      <p:sp>
        <p:nvSpPr>
          <p:cNvPr id="148" name="Google Shape;148;p29"/>
          <p:cNvSpPr txBox="1"/>
          <p:nvPr>
            <p:ph idx="1" type="body"/>
          </p:nvPr>
        </p:nvSpPr>
        <p:spPr>
          <a:xfrm>
            <a:off x="381000" y="1293019"/>
            <a:ext cx="8382000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100"/>
          </a:p>
        </p:txBody>
      </p:sp>
      <p:pic>
        <p:nvPicPr>
          <p:cNvPr id="149" name="Google Shape;14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4551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54" name="Google Shape;1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59" name="Google Shape;15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64" name="Google Shape;1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69" name="Google Shape;1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type="title"/>
          </p:nvPr>
        </p:nvSpPr>
        <p:spPr>
          <a:xfrm>
            <a:off x="381002" y="381000"/>
            <a:ext cx="766762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es-419" sz="1100"/>
              <a:t>Gráficos Escenarios</a:t>
            </a:r>
            <a:endParaRPr sz="1100"/>
          </a:p>
        </p:txBody>
      </p:sp>
      <p:sp>
        <p:nvSpPr>
          <p:cNvPr id="175" name="Google Shape;175;p34"/>
          <p:cNvSpPr txBox="1"/>
          <p:nvPr>
            <p:ph idx="12" type="sldNum"/>
          </p:nvPr>
        </p:nvSpPr>
        <p:spPr>
          <a:xfrm>
            <a:off x="8496300" y="4824257"/>
            <a:ext cx="266700" cy="69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</a:pPr>
            <a:fld id="{00000000-1234-1234-1234-123412341234}" type="slidenum">
              <a:rPr lang="es-419" sz="1100"/>
              <a:t>‹#›</a:t>
            </a:fld>
            <a:endParaRPr sz="1100"/>
          </a:p>
        </p:txBody>
      </p:sp>
      <p:sp>
        <p:nvSpPr>
          <p:cNvPr id="176" name="Google Shape;176;p34"/>
          <p:cNvSpPr txBox="1"/>
          <p:nvPr>
            <p:ph idx="1" type="body"/>
          </p:nvPr>
        </p:nvSpPr>
        <p:spPr>
          <a:xfrm>
            <a:off x="381001" y="1293018"/>
            <a:ext cx="4098925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100"/>
              <a:t>Escenario 1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100"/>
          </a:p>
        </p:txBody>
      </p:sp>
      <p:sp>
        <p:nvSpPr>
          <p:cNvPr id="177" name="Google Shape;177;p34"/>
          <p:cNvSpPr txBox="1"/>
          <p:nvPr>
            <p:ph idx="2" type="body"/>
          </p:nvPr>
        </p:nvSpPr>
        <p:spPr>
          <a:xfrm>
            <a:off x="4662489" y="1293018"/>
            <a:ext cx="4098925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100"/>
              <a:t>Escenario 2</a:t>
            </a:r>
            <a:endParaRPr sz="1100"/>
          </a:p>
        </p:txBody>
      </p:sp>
      <p:pic>
        <p:nvPicPr>
          <p:cNvPr id="178" name="Google Shape;17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1" y="1621388"/>
            <a:ext cx="3934982" cy="2538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2489" y="1788490"/>
            <a:ext cx="3850490" cy="2307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184" name="Google Shape;18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/>
          <p:nvPr>
            <p:ph type="title"/>
          </p:nvPr>
        </p:nvSpPr>
        <p:spPr>
          <a:xfrm>
            <a:off x="381002" y="381000"/>
            <a:ext cx="766762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es-419" sz="1100"/>
              <a:t>Referencias</a:t>
            </a:r>
            <a:endParaRPr sz="1100"/>
          </a:p>
        </p:txBody>
      </p:sp>
      <p:sp>
        <p:nvSpPr>
          <p:cNvPr id="190" name="Google Shape;190;p36"/>
          <p:cNvSpPr txBox="1"/>
          <p:nvPr>
            <p:ph idx="12" type="sldNum"/>
          </p:nvPr>
        </p:nvSpPr>
        <p:spPr>
          <a:xfrm>
            <a:off x="8496300" y="4824257"/>
            <a:ext cx="266700" cy="69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None/>
            </a:pPr>
            <a:fld id="{00000000-1234-1234-1234-123412341234}" type="slidenum">
              <a:rPr lang="es-419" sz="1100"/>
              <a:t>‹#›</a:t>
            </a:fld>
            <a:endParaRPr sz="1100"/>
          </a:p>
        </p:txBody>
      </p:sp>
      <p:sp>
        <p:nvSpPr>
          <p:cNvPr id="191" name="Google Shape;191;p36"/>
          <p:cNvSpPr txBox="1"/>
          <p:nvPr>
            <p:ph idx="1" type="body"/>
          </p:nvPr>
        </p:nvSpPr>
        <p:spPr>
          <a:xfrm>
            <a:off x="381002" y="973931"/>
            <a:ext cx="8382000" cy="31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955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/>
              <a:t>Martínez Sánchez, J. F., Martínez Camacho, A., &amp; Pérez Lechuga, G. (2020). Metodología de evaluación de riesgos en materia de prevención de lavado de dinero (PLD) y financiamiento al terrorismo (FT). Panorama Económico, 15(30), 143–167. </a:t>
            </a:r>
            <a:r>
              <a:rPr lang="es-419" sz="1500" u="sng">
                <a:solidFill>
                  <a:schemeClr val="hlink"/>
                </a:solidFill>
                <a:hlinkClick r:id="rId3"/>
              </a:rPr>
              <a:t>https://doi.org/10.29201/peipn.v15i30.38:contentReference[oaicite:7]{index=7}</a:t>
            </a:r>
            <a:endParaRPr sz="1500"/>
          </a:p>
          <a:p>
            <a:pPr indent="-209550" lvl="0" marL="21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/>
              <a:t>Financial Action Task Force. (2014). Guidance for a risk-based approach: The banking sector. </a:t>
            </a:r>
            <a:r>
              <a:rPr lang="es-419" sz="1500" u="sng">
                <a:solidFill>
                  <a:schemeClr val="hlink"/>
                </a:solidFill>
                <a:hlinkClick r:id="rId4"/>
              </a:rPr>
              <a:t>https://www.fatf-gafi.org/content/dam/fatf-gafi/guidance/Risk-Based-Approach-Banking-Sector.pdf:contentReference[oaicite:11]{index=11}</a:t>
            </a:r>
            <a:endParaRPr sz="1500"/>
          </a:p>
          <a:p>
            <a:pPr indent="-209550" lvl="0" marL="21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/>
              <a:t>Financial Action Task Force. (2018). Guidance for a risk-based approach: Life insurance sector. </a:t>
            </a:r>
            <a:r>
              <a:rPr lang="es-419" sz="1500" u="sng">
                <a:solidFill>
                  <a:schemeClr val="hlink"/>
                </a:solidFill>
                <a:hlinkClick r:id="rId5"/>
              </a:rPr>
              <a:t>https://www.fatf-gafi.org/content/dam/fatf-gafi/guidance/RBA-Life-Insurance.pdf:contentReference[oaicite:15]{index=15}</a:t>
            </a:r>
            <a:endParaRPr sz="1500"/>
          </a:p>
          <a:p>
            <a:pPr indent="-209550" lvl="0" marL="21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/>
              <a:t>Tasche, D. (2011). Bayesian estimation of probabilities of default for low default portfolios. arXiv preprint arXiv:1112.5550. </a:t>
            </a:r>
            <a:r>
              <a:rPr lang="es-419" sz="1500" u="sng">
                <a:solidFill>
                  <a:schemeClr val="hlink"/>
                </a:solidFill>
                <a:hlinkClick r:id="rId6"/>
              </a:rPr>
              <a:t>https://arxiv.org/abs/1112.5550:contentReference[oaicite:19]{index=19}</a:t>
            </a:r>
            <a:endParaRPr sz="1500"/>
          </a:p>
          <a:p>
            <a:pPr indent="-114300" lvl="0" marL="21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